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Quicksand Bold" panose="020B060007020508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Quicksand" panose="020B0600070205080204" charset="0"/>
      <p:regular r:id="rId20"/>
    </p:embeddedFont>
    <p:embeddedFont>
      <p:font typeface="Noto Sans JP Medium" panose="020B0200000000000000" pitchFamily="50" charset="-128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10" name="TextBox 2"/>
          <p:cNvSpPr txBox="1"/>
          <p:nvPr/>
        </p:nvSpPr>
        <p:spPr>
          <a:xfrm>
            <a:off x="762000" y="3747182"/>
            <a:ext cx="16229942" cy="160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2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  <a:cs typeface="Quicksand"/>
                <a:sym typeface="Quicksand"/>
              </a:rPr>
              <a:t>THIẾT KẾ HỆ THỐNG TRẠM</a:t>
            </a:r>
          </a:p>
          <a:p>
            <a:pPr marL="0" lvl="0" indent="0" algn="ctr">
              <a:lnSpc>
                <a:spcPts val="6692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  <a:cs typeface="Quicksand"/>
                <a:sym typeface="Quicksand"/>
              </a:rPr>
              <a:t>QUAN TRẮC MÔI TRƯỜNG VÀ ỨNG DỤNG GIÁM SÁT TRÊN ĐIỆN THOẠI THÔNG MINH</a:t>
            </a:r>
          </a:p>
        </p:txBody>
      </p:sp>
      <p:sp>
        <p:nvSpPr>
          <p:cNvPr id="11" name="AutoShape 4"/>
          <p:cNvSpPr/>
          <p:nvPr/>
        </p:nvSpPr>
        <p:spPr>
          <a:xfrm>
            <a:off x="4572000" y="90297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6"/>
          <p:cNvSpPr txBox="1"/>
          <p:nvPr/>
        </p:nvSpPr>
        <p:spPr>
          <a:xfrm>
            <a:off x="2209134" y="5957362"/>
            <a:ext cx="12812922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84"/>
              </a:lnSpc>
              <a:spcBef>
                <a:spcPct val="0"/>
              </a:spcBef>
            </a:pPr>
            <a:r>
              <a:rPr lang="en-US" sz="3200" dirty="0">
                <a:latin typeface="Quicksand"/>
                <a:ea typeface="Quicksand"/>
                <a:cs typeface="Quicksand"/>
                <a:sym typeface="Quicksand"/>
              </a:rPr>
              <a:t>GVHD: </a:t>
            </a:r>
            <a:r>
              <a:rPr lang="en-US" sz="3200" dirty="0" err="1">
                <a:latin typeface="Quicksand"/>
                <a:ea typeface="Quicksand"/>
                <a:cs typeface="Quicksand"/>
                <a:sym typeface="Quicksand"/>
              </a:rPr>
              <a:t>ThS.Phạm</a:t>
            </a:r>
            <a:r>
              <a:rPr lang="en-US" sz="3200" dirty="0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200" dirty="0" err="1">
                <a:latin typeface="Quicksand"/>
                <a:ea typeface="Quicksand"/>
                <a:cs typeface="Quicksand"/>
                <a:sym typeface="Quicksand"/>
              </a:rPr>
              <a:t>Thị</a:t>
            </a:r>
            <a:r>
              <a:rPr lang="en-US" sz="3200" dirty="0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200" dirty="0" err="1">
                <a:latin typeface="Quicksand"/>
                <a:ea typeface="Quicksand"/>
                <a:cs typeface="Quicksand"/>
                <a:sym typeface="Quicksand"/>
              </a:rPr>
              <a:t>Quỳnh</a:t>
            </a:r>
            <a:r>
              <a:rPr lang="en-US" sz="3200" dirty="0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200" dirty="0" err="1">
                <a:latin typeface="Quicksand"/>
                <a:ea typeface="Quicksand"/>
                <a:cs typeface="Quicksand"/>
                <a:sym typeface="Quicksand"/>
              </a:rPr>
              <a:t>Trang</a:t>
            </a:r>
            <a:endParaRPr lang="en-US" sz="3200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121348" y="6861881"/>
            <a:ext cx="6988496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57"/>
              </a:lnSpc>
              <a:spcBef>
                <a:spcPct val="0"/>
              </a:spcBef>
            </a:pPr>
            <a:r>
              <a:rPr lang="en-US" sz="2800" dirty="0">
                <a:latin typeface="Quicksand"/>
                <a:ea typeface="Quicksand"/>
                <a:cs typeface="Quicksand"/>
                <a:sym typeface="Quicksand"/>
              </a:rPr>
              <a:t>SVTH: </a:t>
            </a:r>
            <a:r>
              <a:rPr lang="en-US" sz="2800" dirty="0" err="1">
                <a:latin typeface="Quicksand"/>
                <a:ea typeface="Quicksand"/>
                <a:cs typeface="Quicksand"/>
                <a:sym typeface="Quicksand"/>
              </a:rPr>
              <a:t>Nguyễn</a:t>
            </a:r>
            <a:r>
              <a:rPr lang="en-US" sz="2800" dirty="0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800" dirty="0" err="1">
                <a:latin typeface="Quicksand"/>
                <a:ea typeface="Quicksand"/>
                <a:cs typeface="Quicksand"/>
                <a:sym typeface="Quicksand"/>
              </a:rPr>
              <a:t>Trí</a:t>
            </a:r>
            <a:r>
              <a:rPr lang="en-US" sz="2800" dirty="0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800" dirty="0" err="1">
                <a:latin typeface="Quicksand"/>
                <a:ea typeface="Quicksand"/>
                <a:cs typeface="Quicksand"/>
                <a:sym typeface="Quicksand"/>
              </a:rPr>
              <a:t>Hiếu</a:t>
            </a:r>
            <a:r>
              <a:rPr lang="en-US" sz="2800" dirty="0">
                <a:latin typeface="Quicksand"/>
                <a:ea typeface="Quicksand"/>
                <a:cs typeface="Quicksand"/>
                <a:sym typeface="Quicksand"/>
              </a:rPr>
              <a:t>  </a:t>
            </a:r>
            <a:endParaRPr lang="vi-VN" sz="28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ctr">
              <a:lnSpc>
                <a:spcPts val="4957"/>
              </a:lnSpc>
              <a:spcBef>
                <a:spcPct val="0"/>
              </a:spcBef>
            </a:pPr>
            <a:r>
              <a:rPr lang="en-US" sz="2800" dirty="0" smtClean="0">
                <a:latin typeface="Quicksand"/>
                <a:ea typeface="Quicksand"/>
                <a:cs typeface="Quicksand"/>
                <a:sym typeface="Quicksand"/>
              </a:rPr>
              <a:t>MSV:</a:t>
            </a:r>
            <a:r>
              <a:rPr lang="vi-VN" sz="2800" dirty="0" smtClean="0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800" dirty="0" smtClean="0">
                <a:latin typeface="Quicksand"/>
                <a:ea typeface="Quicksand"/>
                <a:cs typeface="Quicksand"/>
                <a:sym typeface="Quicksand"/>
              </a:rPr>
              <a:t>2020606317</a:t>
            </a:r>
            <a:endParaRPr lang="en-US" sz="2800" dirty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24" y="233946"/>
            <a:ext cx="1961999" cy="196199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7194" y="171573"/>
            <a:ext cx="2086743" cy="208674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43400" y="647700"/>
            <a:ext cx="960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600" b="1" smtClean="0">
                <a:solidFill>
                  <a:schemeClr val="accent1">
                    <a:lumMod val="75000"/>
                  </a:schemeClr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Đại Học </a:t>
            </a:r>
            <a:r>
              <a:rPr lang="vi-VN" sz="3600" b="1" dirty="0" smtClean="0">
                <a:solidFill>
                  <a:schemeClr val="accent1">
                    <a:lumMod val="75000"/>
                  </a:schemeClr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Công Nghiệp Hà Nội</a:t>
            </a:r>
          </a:p>
          <a:p>
            <a:pPr algn="ctr"/>
            <a:r>
              <a:rPr lang="vi-VN" sz="3600" b="1" dirty="0" smtClean="0">
                <a:solidFill>
                  <a:schemeClr val="accent1">
                    <a:lumMod val="75000"/>
                  </a:schemeClr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Khoa Điện Tử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2936607"/>
            <a:ext cx="4815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600" u="sng" dirty="0" smtClean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ĐỒ ÁN TỐT NGHIỆP</a:t>
            </a:r>
            <a:endParaRPr lang="en-US" sz="3600" u="sng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304001" y="2565919"/>
            <a:ext cx="9159708" cy="4787520"/>
          </a:xfrm>
          <a:custGeom>
            <a:avLst/>
            <a:gdLst/>
            <a:ahLst/>
            <a:cxnLst/>
            <a:rect l="l" t="t" r="r" b="b"/>
            <a:pathLst>
              <a:path w="9159708" h="4787520">
                <a:moveTo>
                  <a:pt x="0" y="0"/>
                </a:moveTo>
                <a:lnTo>
                  <a:pt x="9159709" y="0"/>
                </a:lnTo>
                <a:lnTo>
                  <a:pt x="9159709" y="4787520"/>
                </a:lnTo>
                <a:lnTo>
                  <a:pt x="0" y="478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84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3847" y="933450"/>
            <a:ext cx="7304948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1.Tổng quan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403994"/>
            <a:ext cx="6655243" cy="581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Là chủ đề rất được quan tâm hiện nay.</a:t>
            </a:r>
          </a:p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Tận dụng được sự phát triển của công nghệ IOT, bộ dữ liệu lớn.</a:t>
            </a:r>
          </a:p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Tuy nhiên gặp nhiều thách thức về độ chính xác, chi phí và xử lý dữ liệu.</a:t>
            </a:r>
          </a:p>
        </p:txBody>
      </p:sp>
    </p:spTree>
    <p:extLst>
      <p:ext uri="{BB962C8B-B14F-4D97-AF65-F5344CB8AC3E}">
        <p14:creationId xmlns:p14="http://schemas.microsoft.com/office/powerpoint/2010/main" val="1789035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8755"/>
            <a:ext cx="18288000" cy="10178245"/>
            <a:chOff x="0" y="0"/>
            <a:chExt cx="4816593" cy="2680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680690"/>
            </a:xfrm>
            <a:custGeom>
              <a:avLst/>
              <a:gdLst/>
              <a:ahLst/>
              <a:cxnLst/>
              <a:rect l="l" t="t" r="r" b="b"/>
              <a:pathLst>
                <a:path w="4816592" h="2680690">
                  <a:moveTo>
                    <a:pt x="0" y="0"/>
                  </a:moveTo>
                  <a:lnTo>
                    <a:pt x="4816592" y="0"/>
                  </a:lnTo>
                  <a:lnTo>
                    <a:pt x="4816592" y="2680690"/>
                  </a:lnTo>
                  <a:lnTo>
                    <a:pt x="0" y="268069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728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398579" y="2430849"/>
            <a:ext cx="5144428" cy="5425302"/>
          </a:xfrm>
          <a:custGeom>
            <a:avLst/>
            <a:gdLst/>
            <a:ahLst/>
            <a:cxnLst/>
            <a:rect l="l" t="t" r="r" b="b"/>
            <a:pathLst>
              <a:path w="5144428" h="5425302">
                <a:moveTo>
                  <a:pt x="0" y="0"/>
                </a:moveTo>
                <a:lnTo>
                  <a:pt x="5144428" y="0"/>
                </a:lnTo>
                <a:lnTo>
                  <a:pt x="5144428" y="5425302"/>
                </a:lnTo>
                <a:lnTo>
                  <a:pt x="0" y="5425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0" y="554037"/>
            <a:ext cx="865678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2.Mục Tiêu và Nhiệm vụ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096" y="3224530"/>
            <a:ext cx="10407909" cy="434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Xây dựng trạm quan trắc thu thập nhiệt độ, bụi, khí CO, mưa,...</a:t>
            </a:r>
          </a:p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Phát triển phầm mềm điều khiển cho phần cứng và ứng dụng di động.</a:t>
            </a:r>
          </a:p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Lưu trữ dữ liệu trên Cloud.</a:t>
            </a:r>
          </a:p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Đưa ra lời khuyên và cảnh báo về thời tiết.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30168"/>
            <a:ext cx="5385764" cy="6770523"/>
            <a:chOff x="0" y="0"/>
            <a:chExt cx="1418473" cy="17831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18473" cy="1783183"/>
            </a:xfrm>
            <a:custGeom>
              <a:avLst/>
              <a:gdLst/>
              <a:ahLst/>
              <a:cxnLst/>
              <a:rect l="l" t="t" r="r" b="b"/>
              <a:pathLst>
                <a:path w="1418473" h="1783183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709872"/>
                  </a:lnTo>
                  <a:cubicBezTo>
                    <a:pt x="1418473" y="1750360"/>
                    <a:pt x="1385650" y="1783183"/>
                    <a:pt x="1345161" y="1783183"/>
                  </a:cubicBezTo>
                  <a:lnTo>
                    <a:pt x="73311" y="1783183"/>
                  </a:lnTo>
                  <a:cubicBezTo>
                    <a:pt x="53868" y="1783183"/>
                    <a:pt x="35221" y="1775459"/>
                    <a:pt x="21472" y="1761711"/>
                  </a:cubicBezTo>
                  <a:cubicBezTo>
                    <a:pt x="7724" y="1747962"/>
                    <a:pt x="0" y="1729315"/>
                    <a:pt x="0" y="1709872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418473" cy="1907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52143" y="1930168"/>
            <a:ext cx="5385764" cy="6770523"/>
            <a:chOff x="0" y="0"/>
            <a:chExt cx="1418473" cy="17831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8473" cy="1783183"/>
            </a:xfrm>
            <a:custGeom>
              <a:avLst/>
              <a:gdLst/>
              <a:ahLst/>
              <a:cxnLst/>
              <a:rect l="l" t="t" r="r" b="b"/>
              <a:pathLst>
                <a:path w="1418473" h="1783183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709872"/>
                  </a:lnTo>
                  <a:cubicBezTo>
                    <a:pt x="1418473" y="1750360"/>
                    <a:pt x="1385650" y="1783183"/>
                    <a:pt x="1345161" y="1783183"/>
                  </a:cubicBezTo>
                  <a:lnTo>
                    <a:pt x="73311" y="1783183"/>
                  </a:lnTo>
                  <a:cubicBezTo>
                    <a:pt x="53868" y="1783183"/>
                    <a:pt x="35221" y="1775459"/>
                    <a:pt x="21472" y="1761711"/>
                  </a:cubicBezTo>
                  <a:cubicBezTo>
                    <a:pt x="7724" y="1747962"/>
                    <a:pt x="0" y="1729315"/>
                    <a:pt x="0" y="1709872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1418473" cy="1907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76056" y="1930168"/>
            <a:ext cx="5385764" cy="6770523"/>
            <a:chOff x="0" y="0"/>
            <a:chExt cx="1418473" cy="17831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8473" cy="1783183"/>
            </a:xfrm>
            <a:custGeom>
              <a:avLst/>
              <a:gdLst/>
              <a:ahLst/>
              <a:cxnLst/>
              <a:rect l="l" t="t" r="r" b="b"/>
              <a:pathLst>
                <a:path w="1418473" h="1783183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709872"/>
                  </a:lnTo>
                  <a:cubicBezTo>
                    <a:pt x="1418473" y="1750360"/>
                    <a:pt x="1385650" y="1783183"/>
                    <a:pt x="1345161" y="1783183"/>
                  </a:cubicBezTo>
                  <a:lnTo>
                    <a:pt x="73311" y="1783183"/>
                  </a:lnTo>
                  <a:cubicBezTo>
                    <a:pt x="53868" y="1783183"/>
                    <a:pt x="35221" y="1775459"/>
                    <a:pt x="21472" y="1761711"/>
                  </a:cubicBezTo>
                  <a:cubicBezTo>
                    <a:pt x="7724" y="1747962"/>
                    <a:pt x="0" y="1729315"/>
                    <a:pt x="0" y="1709872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1418473" cy="1907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06054" y="4890872"/>
            <a:ext cx="2535874" cy="1791356"/>
          </a:xfrm>
          <a:custGeom>
            <a:avLst/>
            <a:gdLst/>
            <a:ahLst/>
            <a:cxnLst/>
            <a:rect l="l" t="t" r="r" b="b"/>
            <a:pathLst>
              <a:path w="2535874" h="1791356">
                <a:moveTo>
                  <a:pt x="0" y="0"/>
                </a:moveTo>
                <a:lnTo>
                  <a:pt x="2535874" y="0"/>
                </a:lnTo>
                <a:lnTo>
                  <a:pt x="2535874" y="1791356"/>
                </a:lnTo>
                <a:lnTo>
                  <a:pt x="0" y="179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346062" y="6712905"/>
            <a:ext cx="2591730" cy="1987786"/>
          </a:xfrm>
          <a:custGeom>
            <a:avLst/>
            <a:gdLst/>
            <a:ahLst/>
            <a:cxnLst/>
            <a:rect l="l" t="t" r="r" b="b"/>
            <a:pathLst>
              <a:path w="2591730" h="1987786">
                <a:moveTo>
                  <a:pt x="0" y="0"/>
                </a:moveTo>
                <a:lnTo>
                  <a:pt x="2591731" y="0"/>
                </a:lnTo>
                <a:lnTo>
                  <a:pt x="2591731" y="1987786"/>
                </a:lnTo>
                <a:lnTo>
                  <a:pt x="0" y="1987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765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721582" y="4890872"/>
            <a:ext cx="2432422" cy="1822033"/>
          </a:xfrm>
          <a:custGeom>
            <a:avLst/>
            <a:gdLst/>
            <a:ahLst/>
            <a:cxnLst/>
            <a:rect l="l" t="t" r="r" b="b"/>
            <a:pathLst>
              <a:path w="2432422" h="1822033">
                <a:moveTo>
                  <a:pt x="0" y="0"/>
                </a:moveTo>
                <a:lnTo>
                  <a:pt x="2432422" y="0"/>
                </a:lnTo>
                <a:lnTo>
                  <a:pt x="2432422" y="1822033"/>
                </a:lnTo>
                <a:lnTo>
                  <a:pt x="0" y="1822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20" r="-442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494744" y="4735898"/>
            <a:ext cx="3921637" cy="2316289"/>
          </a:xfrm>
          <a:custGeom>
            <a:avLst/>
            <a:gdLst/>
            <a:ahLst/>
            <a:cxnLst/>
            <a:rect l="l" t="t" r="r" b="b"/>
            <a:pathLst>
              <a:path w="3921637" h="2316289">
                <a:moveTo>
                  <a:pt x="0" y="0"/>
                </a:moveTo>
                <a:lnTo>
                  <a:pt x="3921637" y="0"/>
                </a:lnTo>
                <a:lnTo>
                  <a:pt x="3921637" y="2316289"/>
                </a:lnTo>
                <a:lnTo>
                  <a:pt x="0" y="2316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680035" y="4320328"/>
            <a:ext cx="3377806" cy="1141087"/>
          </a:xfrm>
          <a:custGeom>
            <a:avLst/>
            <a:gdLst/>
            <a:ahLst/>
            <a:cxnLst/>
            <a:rect l="l" t="t" r="r" b="b"/>
            <a:pathLst>
              <a:path w="3377806" h="1141087">
                <a:moveTo>
                  <a:pt x="0" y="0"/>
                </a:moveTo>
                <a:lnTo>
                  <a:pt x="3377806" y="0"/>
                </a:lnTo>
                <a:lnTo>
                  <a:pt x="3377806" y="1141088"/>
                </a:lnTo>
                <a:lnTo>
                  <a:pt x="0" y="11410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76" r="-2976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680035" y="5894043"/>
            <a:ext cx="3377806" cy="1637724"/>
          </a:xfrm>
          <a:custGeom>
            <a:avLst/>
            <a:gdLst/>
            <a:ahLst/>
            <a:cxnLst/>
            <a:rect l="l" t="t" r="r" b="b"/>
            <a:pathLst>
              <a:path w="3377806" h="1637724">
                <a:moveTo>
                  <a:pt x="0" y="0"/>
                </a:moveTo>
                <a:lnTo>
                  <a:pt x="3377806" y="0"/>
                </a:lnTo>
                <a:lnTo>
                  <a:pt x="3377806" y="1637724"/>
                </a:lnTo>
                <a:lnTo>
                  <a:pt x="0" y="16377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33041" y="554037"/>
            <a:ext cx="918080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3.Công cụ và linh kiện sử dụng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74139" y="2207751"/>
            <a:ext cx="3742243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IDE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Android Studio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Arduino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2207751"/>
            <a:ext cx="5385764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Linh kiện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ESP32 DevKit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cảm biến DHT22, mưa, khí CO, bụi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LM259, điện trở,...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76056" y="2207751"/>
            <a:ext cx="5385764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Tool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Firebase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Web OpenWeather 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41241" y="2258592"/>
            <a:ext cx="10405519" cy="7362395"/>
          </a:xfrm>
          <a:custGeom>
            <a:avLst/>
            <a:gdLst/>
            <a:ahLst/>
            <a:cxnLst/>
            <a:rect l="l" t="t" r="r" b="b"/>
            <a:pathLst>
              <a:path w="10405519" h="7362395">
                <a:moveTo>
                  <a:pt x="0" y="0"/>
                </a:moveTo>
                <a:lnTo>
                  <a:pt x="10405518" y="0"/>
                </a:lnTo>
                <a:lnTo>
                  <a:pt x="10405518" y="7362396"/>
                </a:lnTo>
                <a:lnTo>
                  <a:pt x="0" y="7362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33450"/>
            <a:ext cx="68199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4.Sơ </a:t>
            </a:r>
            <a:r>
              <a:rPr lang="en-US" sz="4999" b="1" dirty="0" err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đồ</a:t>
            </a:r>
            <a:r>
              <a:rPr lang="en-US" sz="4999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4999" b="1" dirty="0" err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hệ</a:t>
            </a:r>
            <a:r>
              <a:rPr lang="en-US" sz="4999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4999" b="1" dirty="0" err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thống</a:t>
            </a:r>
            <a:endParaRPr lang="en-US" sz="4999" b="1" dirty="0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2490" y="1596866"/>
            <a:ext cx="5516671" cy="5152133"/>
          </a:xfrm>
          <a:custGeom>
            <a:avLst/>
            <a:gdLst/>
            <a:ahLst/>
            <a:cxnLst/>
            <a:rect l="l" t="t" r="r" b="b"/>
            <a:pathLst>
              <a:path w="5516671" h="5152133">
                <a:moveTo>
                  <a:pt x="0" y="0"/>
                </a:moveTo>
                <a:lnTo>
                  <a:pt x="5516671" y="0"/>
                </a:lnTo>
                <a:lnTo>
                  <a:pt x="5516671" y="5152133"/>
                </a:lnTo>
                <a:lnTo>
                  <a:pt x="0" y="515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60416" y="1383299"/>
            <a:ext cx="5144461" cy="7661434"/>
          </a:xfrm>
          <a:custGeom>
            <a:avLst/>
            <a:gdLst/>
            <a:ahLst/>
            <a:cxnLst/>
            <a:rect l="l" t="t" r="r" b="b"/>
            <a:pathLst>
              <a:path w="5144461" h="7661434">
                <a:moveTo>
                  <a:pt x="0" y="0"/>
                </a:moveTo>
                <a:lnTo>
                  <a:pt x="5144461" y="0"/>
                </a:lnTo>
                <a:lnTo>
                  <a:pt x="5144461" y="7661434"/>
                </a:lnTo>
                <a:lnTo>
                  <a:pt x="0" y="7661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95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1696" y="554037"/>
            <a:ext cx="1407206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5.Thiết kế phần cứng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872824"/>
            <a:ext cx="4587541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    </a:t>
            </a:r>
            <a:r>
              <a:rPr lang="en-US" sz="2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Khối điều khiển: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Điều khiển cảm biến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Xử lý dữ liệu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Gửi dữ liệu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75973" y="1316624"/>
            <a:ext cx="4142976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Khối hiển thị: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Hiển thị các thông số lên màn LCD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575973" y="4776321"/>
            <a:ext cx="4142976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Khối cảnh báo: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loa cảnh báo khi quá ngưỡng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310281"/>
            <a:ext cx="8731688" cy="5666438"/>
          </a:xfrm>
          <a:custGeom>
            <a:avLst/>
            <a:gdLst/>
            <a:ahLst/>
            <a:cxnLst/>
            <a:rect l="l" t="t" r="r" b="b"/>
            <a:pathLst>
              <a:path w="8731688" h="5666438">
                <a:moveTo>
                  <a:pt x="0" y="0"/>
                </a:moveTo>
                <a:lnTo>
                  <a:pt x="8731688" y="0"/>
                </a:lnTo>
                <a:lnTo>
                  <a:pt x="8731688" y="5666438"/>
                </a:lnTo>
                <a:lnTo>
                  <a:pt x="0" y="5666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3867" y="743709"/>
            <a:ext cx="1407206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5.Thiết kế phần cứng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32700" y="3163431"/>
            <a:ext cx="6926600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MQ135: </a:t>
            </a: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Lấy giá trị khí CO, khí ga.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RAIN:</a:t>
            </a: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Lấy giá trị mưa.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Cảm biến bụi: </a:t>
            </a: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Lấy giá trị độ bụi.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DHT22: </a:t>
            </a: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Lấy giá trị nhiệt độ và độ ẩm.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13721" y="1634543"/>
            <a:ext cx="14405581" cy="5705250"/>
          </a:xfrm>
          <a:custGeom>
            <a:avLst/>
            <a:gdLst/>
            <a:ahLst/>
            <a:cxnLst/>
            <a:rect l="l" t="t" r="r" b="b"/>
            <a:pathLst>
              <a:path w="14405581" h="5705250">
                <a:moveTo>
                  <a:pt x="0" y="0"/>
                </a:moveTo>
                <a:lnTo>
                  <a:pt x="14405580" y="0"/>
                </a:lnTo>
                <a:lnTo>
                  <a:pt x="14405580" y="5705250"/>
                </a:lnTo>
                <a:lnTo>
                  <a:pt x="0" y="5705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4384" y="618759"/>
            <a:ext cx="1407206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5.Thiết kế phần cứng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13721" y="7520768"/>
            <a:ext cx="4874090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Sử dụng IC LM2596 với điện áp đầu ra +5V.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87734" y="7520768"/>
            <a:ext cx="6392798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Dòng điện dầu ra 1.5A.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Có chức năng bảo vệ quá tải, bảo vệ quá nhiệt.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62578" y="259819"/>
            <a:ext cx="5524668" cy="9767362"/>
          </a:xfrm>
          <a:custGeom>
            <a:avLst/>
            <a:gdLst/>
            <a:ahLst/>
            <a:cxnLst/>
            <a:rect l="l" t="t" r="r" b="b"/>
            <a:pathLst>
              <a:path w="5524668" h="9767362">
                <a:moveTo>
                  <a:pt x="0" y="0"/>
                </a:moveTo>
                <a:lnTo>
                  <a:pt x="5524669" y="0"/>
                </a:lnTo>
                <a:lnTo>
                  <a:pt x="5524669" y="9767362"/>
                </a:lnTo>
                <a:lnTo>
                  <a:pt x="0" y="9767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4" b="-52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8147" y="933450"/>
            <a:ext cx="9387726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6.Thiết kế phần mềm nhúng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4144" y="3474594"/>
            <a:ext cx="8348057" cy="424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1026" lvl="1" indent="-375513" algn="l">
              <a:lnSpc>
                <a:spcPts val="4870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Chương trình nhúng của ESP32 điều khiển lấy giá trị các cảm biến.</a:t>
            </a:r>
          </a:p>
          <a:p>
            <a:pPr algn="l">
              <a:lnSpc>
                <a:spcPts val="4870"/>
              </a:lnSpc>
            </a:pPr>
            <a:endParaRPr lang="en-US" sz="3478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751026" lvl="1" indent="-375513" algn="l">
              <a:lnSpc>
                <a:spcPts val="4870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Các giá trị được hiển thị lên LCD.</a:t>
            </a:r>
          </a:p>
          <a:p>
            <a:pPr algn="l">
              <a:lnSpc>
                <a:spcPts val="4870"/>
              </a:lnSpc>
            </a:pPr>
            <a:endParaRPr lang="en-US" sz="3478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751026" lvl="1" indent="-375513" algn="l">
              <a:lnSpc>
                <a:spcPts val="4870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Đồng thời gửi lên Firebase qua Wifi.</a:t>
            </a:r>
          </a:p>
          <a:p>
            <a:pPr algn="l">
              <a:lnSpc>
                <a:spcPts val="4870"/>
              </a:lnSpc>
              <a:spcBef>
                <a:spcPct val="0"/>
              </a:spcBef>
            </a:pPr>
            <a:endParaRPr lang="en-US" sz="3478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37068" y="2032606"/>
            <a:ext cx="3008054" cy="6221788"/>
          </a:xfrm>
          <a:custGeom>
            <a:avLst/>
            <a:gdLst/>
            <a:ahLst/>
            <a:cxnLst/>
            <a:rect l="l" t="t" r="r" b="b"/>
            <a:pathLst>
              <a:path w="3008054" h="6221788">
                <a:moveTo>
                  <a:pt x="0" y="0"/>
                </a:moveTo>
                <a:lnTo>
                  <a:pt x="3008054" y="0"/>
                </a:lnTo>
                <a:lnTo>
                  <a:pt x="3008054" y="6221788"/>
                </a:lnTo>
                <a:lnTo>
                  <a:pt x="0" y="6221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27118" y="2032606"/>
            <a:ext cx="3033764" cy="6221788"/>
          </a:xfrm>
          <a:custGeom>
            <a:avLst/>
            <a:gdLst/>
            <a:ahLst/>
            <a:cxnLst/>
            <a:rect l="l" t="t" r="r" b="b"/>
            <a:pathLst>
              <a:path w="3033764" h="6221788">
                <a:moveTo>
                  <a:pt x="0" y="0"/>
                </a:moveTo>
                <a:lnTo>
                  <a:pt x="3033764" y="0"/>
                </a:lnTo>
                <a:lnTo>
                  <a:pt x="3033764" y="6221788"/>
                </a:lnTo>
                <a:lnTo>
                  <a:pt x="0" y="62217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546957" y="2032606"/>
            <a:ext cx="3017786" cy="6216123"/>
          </a:xfrm>
          <a:custGeom>
            <a:avLst/>
            <a:gdLst/>
            <a:ahLst/>
            <a:cxnLst/>
            <a:rect l="l" t="t" r="r" b="b"/>
            <a:pathLst>
              <a:path w="3017786" h="6216123">
                <a:moveTo>
                  <a:pt x="0" y="0"/>
                </a:moveTo>
                <a:lnTo>
                  <a:pt x="3017786" y="0"/>
                </a:lnTo>
                <a:lnTo>
                  <a:pt x="3017786" y="6216123"/>
                </a:lnTo>
                <a:lnTo>
                  <a:pt x="0" y="6216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8147" y="933450"/>
            <a:ext cx="13200756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7.Thiết kế phần mềm ứng dụng di động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37068" y="8521094"/>
            <a:ext cx="2975480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Giao diện đầu tiên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27118" y="8521094"/>
            <a:ext cx="303376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Giao diện chính và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dự báo theo giờ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62165" y="8521094"/>
            <a:ext cx="4587370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Giao diện dự báo theo ngày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368132"/>
            <a:ext cx="6105810" cy="5550737"/>
          </a:xfrm>
          <a:custGeom>
            <a:avLst/>
            <a:gdLst/>
            <a:ahLst/>
            <a:cxnLst/>
            <a:rect l="l" t="t" r="r" b="b"/>
            <a:pathLst>
              <a:path w="6105810" h="5550737">
                <a:moveTo>
                  <a:pt x="0" y="0"/>
                </a:moveTo>
                <a:lnTo>
                  <a:pt x="6105810" y="0"/>
                </a:lnTo>
                <a:lnTo>
                  <a:pt x="6105810" y="5550736"/>
                </a:lnTo>
                <a:lnTo>
                  <a:pt x="0" y="555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8147" y="933450"/>
            <a:ext cx="13200756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8.Kết quả thực hiện và kiểm thử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64553" y="3067120"/>
            <a:ext cx="9425071" cy="398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0103" lvl="1" indent="-405051" algn="l">
              <a:lnSpc>
                <a:spcPts val="6378"/>
              </a:lnSpc>
              <a:buFont typeface="Arial"/>
              <a:buChar char="•"/>
            </a:pPr>
            <a:r>
              <a:rPr lang="en-US" sz="375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Cảnh báo cảm biến hoạt động đúng</a:t>
            </a:r>
          </a:p>
          <a:p>
            <a:pPr marL="810103" lvl="1" indent="-405051" algn="l">
              <a:lnSpc>
                <a:spcPts val="6378"/>
              </a:lnSpc>
              <a:buFont typeface="Arial"/>
              <a:buChar char="•"/>
            </a:pPr>
            <a:r>
              <a:rPr lang="en-US" sz="375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Thời gian cập nhật ~1.7–2.1s</a:t>
            </a:r>
          </a:p>
          <a:p>
            <a:pPr marL="810103" lvl="1" indent="-405051" algn="l">
              <a:lnSpc>
                <a:spcPts val="6378"/>
              </a:lnSpc>
              <a:buFont typeface="Arial"/>
              <a:buChar char="•"/>
            </a:pPr>
            <a:r>
              <a:rPr lang="en-US" sz="375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Gợi ý theo tình trạng thời tiết</a:t>
            </a:r>
          </a:p>
          <a:p>
            <a:pPr marL="810103" lvl="1" indent="-405051" algn="l">
              <a:lnSpc>
                <a:spcPts val="6378"/>
              </a:lnSpc>
              <a:buFont typeface="Arial"/>
              <a:buChar char="•"/>
            </a:pPr>
            <a:r>
              <a:rPr lang="en-US" sz="375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Dự báo tốt khi có WiFi</a:t>
            </a:r>
          </a:p>
          <a:p>
            <a:pPr algn="l">
              <a:lnSpc>
                <a:spcPts val="6378"/>
              </a:lnSpc>
            </a:pPr>
            <a:endParaRPr lang="en-US" sz="3752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33645" y="2301990"/>
            <a:ext cx="8989066" cy="5683020"/>
          </a:xfrm>
          <a:custGeom>
            <a:avLst/>
            <a:gdLst/>
            <a:ahLst/>
            <a:cxnLst/>
            <a:rect l="l" t="t" r="r" b="b"/>
            <a:pathLst>
              <a:path w="8989066" h="5683020">
                <a:moveTo>
                  <a:pt x="0" y="0"/>
                </a:moveTo>
                <a:lnTo>
                  <a:pt x="8989065" y="0"/>
                </a:lnTo>
                <a:lnTo>
                  <a:pt x="8989065" y="5683020"/>
                </a:lnTo>
                <a:lnTo>
                  <a:pt x="0" y="5683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8147" y="933450"/>
            <a:ext cx="13200756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9.Hướng phát triển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8147" y="2121015"/>
            <a:ext cx="7268525" cy="6784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4121" lvl="1" indent="-432060" algn="l">
              <a:lnSpc>
                <a:spcPts val="6804"/>
              </a:lnSpc>
              <a:buFont typeface="Arial"/>
              <a:buChar char="•"/>
            </a:pPr>
            <a:r>
              <a:rPr lang="en-US" sz="400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Hoàn thiện trạm quan trắc IoT</a:t>
            </a:r>
          </a:p>
          <a:p>
            <a:pPr marL="864121" lvl="1" indent="-432060" algn="l">
              <a:lnSpc>
                <a:spcPts val="6804"/>
              </a:lnSpc>
              <a:buFont typeface="Arial"/>
              <a:buChar char="•"/>
            </a:pPr>
            <a:r>
              <a:rPr lang="en-US" sz="400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Mở rộng thêm nhiều trạm</a:t>
            </a:r>
          </a:p>
          <a:p>
            <a:pPr marL="864121" lvl="1" indent="-432060" algn="l">
              <a:lnSpc>
                <a:spcPts val="6804"/>
              </a:lnSpc>
              <a:buFont typeface="Arial"/>
              <a:buChar char="•"/>
            </a:pPr>
            <a:r>
              <a:rPr lang="en-US" sz="400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Tối ưu độ chính xác cảm biến</a:t>
            </a:r>
          </a:p>
          <a:p>
            <a:pPr marL="864121" lvl="1" indent="-432060" algn="l">
              <a:lnSpc>
                <a:spcPts val="6804"/>
              </a:lnSpc>
              <a:buFont typeface="Arial"/>
              <a:buChar char="•"/>
            </a:pPr>
            <a:r>
              <a:rPr lang="en-US" sz="400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Phát triển trên iOS</a:t>
            </a:r>
          </a:p>
          <a:p>
            <a:pPr marL="864121" lvl="1" indent="-432060" algn="l">
              <a:lnSpc>
                <a:spcPts val="6804"/>
              </a:lnSpc>
              <a:buFont typeface="Arial"/>
              <a:buChar char="•"/>
            </a:pPr>
            <a:r>
              <a:rPr lang="en-US" sz="400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Tích hợp AI để đưa ra lời khuyên tốt nhất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288498" y="5314394"/>
            <a:ext cx="3711004" cy="2653422"/>
          </a:xfrm>
          <a:custGeom>
            <a:avLst/>
            <a:gdLst/>
            <a:ahLst/>
            <a:cxnLst/>
            <a:rect l="l" t="t" r="r" b="b"/>
            <a:pathLst>
              <a:path w="3711004" h="3347971">
                <a:moveTo>
                  <a:pt x="0" y="0"/>
                </a:moveTo>
                <a:lnTo>
                  <a:pt x="3711004" y="0"/>
                </a:lnTo>
                <a:lnTo>
                  <a:pt x="3711004" y="3347971"/>
                </a:lnTo>
                <a:lnTo>
                  <a:pt x="0" y="33479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906620" y="2725977"/>
            <a:ext cx="8474761" cy="1739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CẢM ƠN QUÝ THẦY CÔ 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VÀ CÁC BẠN ĐÃ LẮNG NGHE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450</Words>
  <Application>Microsoft Office PowerPoint</Application>
  <PresentationFormat>Custom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Quicksand Bold</vt:lpstr>
      <vt:lpstr>Calibri</vt:lpstr>
      <vt:lpstr>Arial</vt:lpstr>
      <vt:lpstr>Quicksand</vt:lpstr>
      <vt:lpstr>Noto Sans JP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Tài:</dc:title>
  <cp:lastModifiedBy>nth280102</cp:lastModifiedBy>
  <cp:revision>5</cp:revision>
  <dcterms:created xsi:type="dcterms:W3CDTF">2006-08-16T00:00:00Z</dcterms:created>
  <dcterms:modified xsi:type="dcterms:W3CDTF">2025-12-04T16:21:35Z</dcterms:modified>
  <dc:identifier>DAG6dE9qb7U</dc:identifier>
</cp:coreProperties>
</file>